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8" r:id="rId2"/>
    <p:sldId id="292" r:id="rId3"/>
    <p:sldId id="305" r:id="rId4"/>
    <p:sldId id="266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AE97EF3-765B-A1CD-53A5-3A6F0DFB1D13}" name="Nik" initials="N" userId="Nik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3B0DA9-EC2C-4662-8429-97C6856D65DE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758A5-2E95-4C90-847F-2FC67B3E06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931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3D643D-7326-4076-8DB2-2835AAF73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9A0D06B-4C4D-43F9-98FC-70BFF05CC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45985A-A145-4FD0-833F-762F9D053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5246-AF4C-4769-8096-3E71FE2743EA}" type="datetime1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DD02A9-31B3-4FA8-A9AF-FB7C8C19E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21E165-F941-4778-894D-8908E9D91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510AF-7346-4725-AEEA-0BA8FA0474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1425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A6EBB3-22F4-4C93-901E-1B3DC8D53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C76653-F1A4-4E9E-9288-55D424A59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F9FFE0-D5F8-4A07-A4DB-ED0E7F3D0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B7396-E643-416A-92DF-DE5539E5A3AB}" type="datetime1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D5DA00-D78D-4814-9B9F-2E91B26F6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6C1A18-E5ED-4FE3-997E-99A947F6F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510AF-7346-4725-AEEA-0BA8FA0474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2483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001015-D49B-49D8-901F-387248EE6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A362EC-90F7-4387-963D-7F9C37A3E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01383E-2AB2-4FE6-B6FA-BB2357129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8F335-9D67-4A3E-A07E-5BC221CE1663}" type="datetime1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13A3AD-D862-4FD7-BEF1-BFF6761D5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55D0C5-022B-416F-9D98-4A7B5790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510AF-7346-4725-AEEA-0BA8FA0474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550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20CDDD-44DE-43E1-BCA8-5F9A322A6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B16FA9-DB86-464B-8B89-B6ECE0E616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1821B3-7D70-431D-94CC-7A5EAA87D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A3FAFD-11BD-4A05-AD31-0014CEDA5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EF71D-013C-44A5-8867-B2E7E9E6D904}" type="datetime1">
              <a:rPr lang="ru-RU" smtClean="0"/>
              <a:t>29.09.2025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A7996DB-C4D4-4F61-B1B1-C4C7AFEAA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F736FF0-3509-4137-B290-4C3A115BF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510AF-7346-4725-AEEA-0BA8FA0474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9993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2B9AEB-1CF8-448F-9FA1-9177C3045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49241DC-E518-4023-B8F9-6031803A7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65E58E5-D72E-4F3E-9224-6FFCB5363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31C6E60-8A8B-41D1-B0B8-A6AD9AFF1E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2AD27F2-970C-47AC-B00E-81DFA170D1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825AEFE-7DC4-4D84-8BFB-7FA9C3579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DAAB9-BA9F-43F6-8E29-4F3437606613}" type="datetime1">
              <a:rPr lang="ru-RU" smtClean="0"/>
              <a:t>29.09.2025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1FA9D4F-37C0-45F7-954D-67529429A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D5C8062-9EFA-4250-8483-F58C43D42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510AF-7346-4725-AEEA-0BA8FA0474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6552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82642C-07F9-41C2-8FF3-7DD4937B0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62D5668-44BD-440C-B648-0A4822E11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CFF12-2EC9-4860-BAAB-A4DF0121B229}" type="datetime1">
              <a:rPr lang="ru-RU" smtClean="0"/>
              <a:t>29.09.2025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9F206DB-A9D2-48E5-923E-1274BCA44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4F5DA77-02EA-4BE7-9D93-61D04619E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510AF-7346-4725-AEEA-0BA8FA0474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616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B0499C5-7A5C-4B83-86DB-AF1C24D00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20E1-9621-4C90-863A-AD4471368D3B}" type="datetime1">
              <a:rPr lang="ru-RU" smtClean="0"/>
              <a:t>29.09.2025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935A3AB-8E7F-45AA-AFEA-79C7B717D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85C706B-63AA-43A4-819C-39B8F0863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510AF-7346-4725-AEEA-0BA8FA0474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0229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A4B590-8F3F-4268-B6D4-251812854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3C49FB-AFFE-4BCE-8371-8EB1A7ADB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06A0B8-FCBB-4C46-87D5-C89332A85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BFE2C72-AE19-4DD0-BB12-D93B5F715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42A81-C933-4ED1-B13E-3A45ED0E4EB9}" type="datetime1">
              <a:rPr lang="ru-RU" smtClean="0"/>
              <a:t>29.09.2025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9912241-8AE9-4BB8-A79E-42417E9AE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C4DDA8F-8CFD-4BA4-967B-DCB3908F7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510AF-7346-4725-AEEA-0BA8FA0474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0289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9D73FA-93A4-4C66-8BD4-71219E596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714B025-95CC-4CF2-BF8B-5D7B3ED4BD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49DE317-9CC8-427D-8861-687F1E8D3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4FF70A-0340-4F23-957A-D62CFBA9D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9FCE6-3477-43FC-8AB2-CF72214B1ADE}" type="datetime1">
              <a:rPr lang="ru-RU" smtClean="0"/>
              <a:t>29.09.2025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CA1DD9-9319-4411-A3A0-57F484375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5D47414-7996-4EDB-8ECB-F0C29561B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510AF-7346-4725-AEEA-0BA8FA0474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0262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450C06-87A6-4497-897C-6C3FB5B7E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4D1D217-35CC-4D8B-A8B2-C21ED1AA01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573F6D-8624-4C19-8650-BF372C81E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267D5-560B-486B-956E-6369D68DF353}" type="datetime1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D866DA-E470-4E12-9C00-CFFF48716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3357B1-8929-49F4-9750-E567367EC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510AF-7346-4725-AEEA-0BA8FA0474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891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156EAFA-D6F1-4EA8-BDD4-E0182EA179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799588B-CAF5-4859-96A6-3BC96EEF04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2DFB25-1E45-4A5E-9C2A-F787994FF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9B389-3BA6-447B-A4F5-DBBA7A376D29}" type="datetime1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C36B6A-DE08-4484-BB83-4333415A6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401C20-1547-45FB-83E5-2D5BA54F1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510AF-7346-4725-AEEA-0BA8FA0474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604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BB92DF-3B4D-4132-BA5E-5ACA11CA0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71FF205-7A79-48F9-9046-C255EAF22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1815EE-35C2-4C82-83FC-9499CACCCA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F52C1-6825-492B-B55B-BDDD18CA0958}" type="datetime1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A1B877-5A80-432A-8393-5A3B115A01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F1D1C0-7B83-4E07-9C62-E2B7283B1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4510AF-7346-4725-AEEA-0BA8FA0474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9365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1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Рисунок 6" descr="Изображение выглядит как металлоизделия, зубчатая передача, несколько&#10;&#10;Автоматически созданное описание">
            <a:extLst>
              <a:ext uri="{FF2B5EF4-FFF2-40B4-BE49-F238E27FC236}">
                <a16:creationId xmlns:a16="http://schemas.microsoft.com/office/drawing/2014/main" id="{9D903BBA-BAF0-4FC2-B8A0-D4B9696222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0" r="27360" b="464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9DE9C8B-CE93-43A4-B208-5D0C8972C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622" y="1234046"/>
            <a:ext cx="5753377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 dirty="0">
                <a:ea typeface="CMU Serif" panose="02000603000000000000" pitchFamily="2" charset="0"/>
                <a:cs typeface="CMU Serif" panose="02000603000000000000" pitchFamily="2" charset="0"/>
              </a:rPr>
              <a:t>TomoBot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8ECD1099-F0FB-454C-83DB-41613F7F3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2623" y="5439547"/>
            <a:ext cx="4685331" cy="1309713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ru-RU" sz="2000" dirty="0">
                <a:ea typeface="CMU Serif" panose="02000603000000000000" pitchFamily="2" charset="0"/>
                <a:cs typeface="CMU Serif" panose="02000603000000000000" pitchFamily="2" charset="0"/>
              </a:rPr>
              <a:t>Университет ИТМО</a:t>
            </a:r>
            <a:endParaRPr lang="en-US" sz="2000" dirty="0"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l"/>
            <a:r>
              <a:rPr lang="ru-RU" sz="2000" dirty="0">
                <a:ea typeface="CMU Serif" panose="02000603000000000000" pitchFamily="2" charset="0"/>
                <a:cs typeface="CMU Serif" panose="02000603000000000000" pitchFamily="2" charset="0"/>
              </a:rPr>
              <a:t>Санкт-Петербург</a:t>
            </a:r>
            <a:endParaRPr lang="en-US" sz="2000" dirty="0"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l"/>
            <a:r>
              <a:rPr lang="ru-RU" sz="2000" dirty="0">
                <a:ea typeface="CMU Serif" panose="02000603000000000000" pitchFamily="2" charset="0"/>
                <a:cs typeface="CMU Serif" panose="02000603000000000000" pitchFamily="2" charset="0"/>
              </a:rPr>
              <a:t>01 сентября 202</a:t>
            </a:r>
            <a:r>
              <a:rPr lang="en-US" sz="2000" dirty="0">
                <a:ea typeface="CMU Serif" panose="02000603000000000000" pitchFamily="2" charset="0"/>
                <a:cs typeface="CMU Serif" panose="02000603000000000000" pitchFamily="2" charset="0"/>
              </a:rPr>
              <a:t>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22044A-3DB9-4863-A3CC-44E4B4F84E44}"/>
              </a:ext>
            </a:extLst>
          </p:cNvPr>
          <p:cNvSpPr txBox="1"/>
          <p:nvPr/>
        </p:nvSpPr>
        <p:spPr>
          <a:xfrm>
            <a:off x="342623" y="4667569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2200" dirty="0">
                <a:ea typeface="CMU Serif" panose="02000603000000000000" pitchFamily="2" charset="0"/>
                <a:cs typeface="CMU Serif" panose="02000603000000000000" pitchFamily="2" charset="0"/>
              </a:rPr>
              <a:t>Маленькие роботы для больших вызовов</a:t>
            </a:r>
            <a:endParaRPr lang="ru-RU" sz="2200" u="sng" dirty="0"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265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08403F-4E55-43A5-AD4C-3EA4592FB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549275"/>
          </a:xfrm>
          <a:solidFill>
            <a:schemeClr val="accent2">
              <a:lumMod val="60000"/>
              <a:lumOff val="40000"/>
            </a:schemeClr>
          </a:solidFill>
          <a:effectLst/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+mn-lt"/>
                <a:ea typeface="CMU Serif" panose="02000603000000000000" pitchFamily="2" charset="0"/>
                <a:cs typeface="CMU Serif" panose="02000603000000000000" pitchFamily="2" charset="0"/>
              </a:rPr>
              <a:t>Исследование завалов и опасных сред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2BD1274-30C3-4931-BD26-E4D3B5559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724" y="6492875"/>
            <a:ext cx="676275" cy="365125"/>
          </a:xfrm>
        </p:spPr>
        <p:txBody>
          <a:bodyPr/>
          <a:lstStyle/>
          <a:p>
            <a:fld id="{134510AF-7346-4725-AEEA-0BA8FA04744E}" type="slidenum">
              <a:rPr lang="ru-RU" sz="1400" smtClean="0">
                <a:solidFill>
                  <a:schemeClr val="tx1"/>
                </a:solidFill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2</a:t>
            </a:fld>
            <a:r>
              <a:rPr lang="en-US" sz="1400" dirty="0">
                <a:solidFill>
                  <a:schemeClr val="tx1"/>
                </a:solidFill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/9</a:t>
            </a:r>
            <a:endParaRPr lang="ru-RU" sz="1400" dirty="0">
              <a:solidFill>
                <a:schemeClr val="tx1"/>
              </a:solidFill>
              <a:latin typeface="CMU Serif" panose="02000603000000000000" pitchFamily="50" charset="0"/>
              <a:ea typeface="CMU Serif" panose="02000603000000000000" pitchFamily="50" charset="0"/>
              <a:cs typeface="CMU Serif" panose="02000603000000000000" pitchFamily="50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2104AA-B680-41AC-5BA9-FB28CB65ABC4}"/>
              </a:ext>
            </a:extLst>
          </p:cNvPr>
          <p:cNvSpPr txBox="1">
            <a:spLocks/>
          </p:cNvSpPr>
          <p:nvPr/>
        </p:nvSpPr>
        <p:spPr>
          <a:xfrm>
            <a:off x="156797" y="711464"/>
            <a:ext cx="11222403" cy="569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800" dirty="0">
                <a:ea typeface="CMU Serif" panose="02000603000000000000" pitchFamily="2" charset="0"/>
                <a:cs typeface="CMU Serif" panose="02000603000000000000" pitchFamily="2" charset="0"/>
              </a:rPr>
              <a:t>Большой рой роботов по 800р вместо одного дорогого робота или эндоскопа</a:t>
            </a:r>
          </a:p>
        </p:txBody>
      </p:sp>
      <p:pic>
        <p:nvPicPr>
          <p:cNvPr id="7" name="Рисунок 6" descr="Изображение выглядит как проектор&#10;&#10;Автоматически созданное описание">
            <a:extLst>
              <a:ext uri="{FF2B5EF4-FFF2-40B4-BE49-F238E27FC236}">
                <a16:creationId xmlns:a16="http://schemas.microsoft.com/office/drawing/2014/main" id="{682AF84C-6C8E-E3CF-5291-7C1754083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6367"/>
            <a:ext cx="12192000" cy="4929415"/>
          </a:xfrm>
          <a:prstGeom prst="rect">
            <a:avLst/>
          </a:prstGeom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19A5679B-493B-12E5-B6C8-F69D9DD245B5}"/>
              </a:ext>
            </a:extLst>
          </p:cNvPr>
          <p:cNvSpPr txBox="1">
            <a:spLocks/>
          </p:cNvSpPr>
          <p:nvPr/>
        </p:nvSpPr>
        <p:spPr>
          <a:xfrm>
            <a:off x="8003548" y="5118062"/>
            <a:ext cx="3512176" cy="12126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ru-RU" sz="1800" dirty="0">
                <a:ea typeface="CMU Serif" panose="02000603000000000000" pitchFamily="2" charset="0"/>
                <a:cs typeface="CMU Serif" panose="02000603000000000000" pitchFamily="2" charset="0"/>
              </a:rPr>
              <a:t>Радиомаяк</a:t>
            </a:r>
            <a:endParaRPr lang="en-US" sz="1800" dirty="0"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>
              <a:buFontTx/>
              <a:buChar char="-"/>
            </a:pPr>
            <a:r>
              <a:rPr lang="en-US" sz="1800" dirty="0">
                <a:ea typeface="CMU Serif" panose="02000603000000000000" pitchFamily="2" charset="0"/>
                <a:cs typeface="CMU Serif" panose="02000603000000000000" pitchFamily="2" charset="0"/>
              </a:rPr>
              <a:t>LED</a:t>
            </a:r>
          </a:p>
          <a:p>
            <a:pPr>
              <a:buFontTx/>
              <a:buChar char="-"/>
            </a:pPr>
            <a:r>
              <a:rPr lang="ru-RU" sz="1800" dirty="0">
                <a:ea typeface="CMU Serif" panose="02000603000000000000" pitchFamily="2" charset="0"/>
                <a:cs typeface="CMU Serif" panose="02000603000000000000" pitchFamily="2" charset="0"/>
              </a:rPr>
              <a:t>Кнопка для сигнала бедствия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B140F967-5542-3A99-CB93-A8A6F10CFE53}"/>
              </a:ext>
            </a:extLst>
          </p:cNvPr>
          <p:cNvSpPr txBox="1">
            <a:spLocks/>
          </p:cNvSpPr>
          <p:nvPr/>
        </p:nvSpPr>
        <p:spPr>
          <a:xfrm>
            <a:off x="315417" y="6390844"/>
            <a:ext cx="9287453" cy="569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800" b="1" dirty="0">
                <a:solidFill>
                  <a:srgbClr val="0000FF"/>
                </a:solidFill>
                <a:ea typeface="CMU Serif" panose="02000603000000000000" pitchFamily="2" charset="0"/>
                <a:cs typeface="CMU Serif" panose="02000603000000000000" pitchFamily="2" charset="0"/>
              </a:rPr>
              <a:t>Цель</a:t>
            </a:r>
            <a:r>
              <a:rPr lang="ru-RU" sz="1800" dirty="0">
                <a:ea typeface="CMU Serif" panose="02000603000000000000" pitchFamily="2" charset="0"/>
                <a:cs typeface="CMU Serif" panose="02000603000000000000" pitchFamily="2" charset="0"/>
              </a:rPr>
              <a:t>: определять геометрию завала и число людей в сознании за несколько минут</a:t>
            </a:r>
            <a:r>
              <a:rPr lang="en-US" sz="1800" dirty="0"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ru-RU" sz="1800" dirty="0"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38356C-D984-826E-8DBF-44019FD16247}"/>
              </a:ext>
            </a:extLst>
          </p:cNvPr>
          <p:cNvSpPr txBox="1"/>
          <p:nvPr/>
        </p:nvSpPr>
        <p:spPr>
          <a:xfrm>
            <a:off x="10819444" y="5512879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TRL 1</a:t>
            </a:r>
            <a:endParaRPr lang="ru-RU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9737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08403F-4E55-43A5-AD4C-3EA4592FB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549275"/>
          </a:xfrm>
          <a:solidFill>
            <a:schemeClr val="accent2">
              <a:lumMod val="60000"/>
              <a:lumOff val="40000"/>
            </a:schemeClr>
          </a:solidFill>
          <a:effectLst/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+mn-lt"/>
                <a:ea typeface="CMU Serif" panose="02000603000000000000" pitchFamily="2" charset="0"/>
                <a:cs typeface="CMU Serif" panose="02000603000000000000" pitchFamily="2" charset="0"/>
              </a:rPr>
              <a:t>Исследование завалов и опасных сред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2BD1274-30C3-4931-BD26-E4D3B5559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724" y="6492875"/>
            <a:ext cx="676275" cy="365125"/>
          </a:xfrm>
        </p:spPr>
        <p:txBody>
          <a:bodyPr/>
          <a:lstStyle/>
          <a:p>
            <a:fld id="{134510AF-7346-4725-AEEA-0BA8FA04744E}" type="slidenum">
              <a:rPr lang="ru-RU" sz="1400" smtClean="0">
                <a:solidFill>
                  <a:schemeClr val="tx1"/>
                </a:solidFill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3</a:t>
            </a:fld>
            <a:r>
              <a:rPr lang="en-US" sz="1400" dirty="0">
                <a:solidFill>
                  <a:schemeClr val="tx1"/>
                </a:solidFill>
                <a:latin typeface="CMU Serif" panose="02000603000000000000" pitchFamily="50" charset="0"/>
                <a:ea typeface="CMU Serif" panose="02000603000000000000" pitchFamily="50" charset="0"/>
                <a:cs typeface="CMU Serif" panose="02000603000000000000" pitchFamily="50" charset="0"/>
              </a:rPr>
              <a:t>/9</a:t>
            </a:r>
            <a:endParaRPr lang="ru-RU" sz="1400" dirty="0">
              <a:solidFill>
                <a:schemeClr val="tx1"/>
              </a:solidFill>
              <a:latin typeface="CMU Serif" panose="02000603000000000000" pitchFamily="50" charset="0"/>
              <a:ea typeface="CMU Serif" panose="02000603000000000000" pitchFamily="50" charset="0"/>
              <a:cs typeface="CMU Serif" panose="02000603000000000000" pitchFamily="50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2104AA-B680-41AC-5BA9-FB28CB65ABC4}"/>
              </a:ext>
            </a:extLst>
          </p:cNvPr>
          <p:cNvSpPr txBox="1">
            <a:spLocks/>
          </p:cNvSpPr>
          <p:nvPr/>
        </p:nvSpPr>
        <p:spPr>
          <a:xfrm>
            <a:off x="1424234" y="1500307"/>
            <a:ext cx="1830623" cy="394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>
                <a:ea typeface="CMU Serif" panose="02000603000000000000" pitchFamily="2" charset="0"/>
                <a:cs typeface="CMU Serif" panose="02000603000000000000" pitchFamily="2" charset="0"/>
              </a:rPr>
              <a:t>Wicked Ball</a:t>
            </a:r>
            <a:endParaRPr lang="ru-RU" sz="1800" dirty="0"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42388A2F-40BC-FE1C-F5C8-AA6148563E49}"/>
              </a:ext>
            </a:extLst>
          </p:cNvPr>
          <p:cNvSpPr txBox="1">
            <a:spLocks/>
          </p:cNvSpPr>
          <p:nvPr/>
        </p:nvSpPr>
        <p:spPr>
          <a:xfrm>
            <a:off x="5180687" y="1500306"/>
            <a:ext cx="1830623" cy="394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>
                <a:ea typeface="CMU Serif" panose="02000603000000000000" pitchFamily="2" charset="0"/>
                <a:cs typeface="CMU Serif" panose="02000603000000000000" pitchFamily="2" charset="0"/>
              </a:rPr>
              <a:t>ESP8266</a:t>
            </a:r>
            <a:endParaRPr lang="ru-RU" sz="1800" dirty="0"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B6CF2874-51AB-0BB3-F398-C3374BD10D04}"/>
              </a:ext>
            </a:extLst>
          </p:cNvPr>
          <p:cNvSpPr txBox="1">
            <a:spLocks/>
          </p:cNvSpPr>
          <p:nvPr/>
        </p:nvSpPr>
        <p:spPr>
          <a:xfrm>
            <a:off x="8753991" y="1500306"/>
            <a:ext cx="2171162" cy="549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>
                <a:ea typeface="CMU Serif" panose="02000603000000000000" pitchFamily="2" charset="0"/>
                <a:cs typeface="CMU Serif" panose="02000603000000000000" pitchFamily="2" charset="0"/>
              </a:rPr>
              <a:t>Wi-Fi tomography</a:t>
            </a:r>
            <a:endParaRPr lang="ru-RU" sz="1800" dirty="0"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8AD9C101-0F4C-D0E7-7D75-3B3928F200BB}"/>
              </a:ext>
            </a:extLst>
          </p:cNvPr>
          <p:cNvSpPr txBox="1">
            <a:spLocks/>
          </p:cNvSpPr>
          <p:nvPr/>
        </p:nvSpPr>
        <p:spPr>
          <a:xfrm>
            <a:off x="301258" y="737433"/>
            <a:ext cx="1415575" cy="3944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800" b="1" dirty="0">
                <a:solidFill>
                  <a:srgbClr val="0000FF"/>
                </a:solidFill>
                <a:ea typeface="CMU Serif" panose="02000603000000000000" pitchFamily="2" charset="0"/>
                <a:cs typeface="CMU Serif" panose="02000603000000000000" pitchFamily="2" charset="0"/>
              </a:rPr>
              <a:t>Идея</a:t>
            </a:r>
            <a:r>
              <a:rPr lang="ru-RU" sz="1800" dirty="0">
                <a:ea typeface="CMU Serif" panose="02000603000000000000" pitchFamily="2" charset="0"/>
                <a:cs typeface="CMU Serif" panose="02000603000000000000" pitchFamily="2" charset="0"/>
              </a:rPr>
              <a:t>:</a:t>
            </a:r>
            <a:r>
              <a:rPr lang="en-US" sz="1800" dirty="0"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ru-RU" sz="1800" dirty="0"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8D7DBD95-6F63-DC38-DBBF-EF2BB833ACFF}"/>
              </a:ext>
            </a:extLst>
          </p:cNvPr>
          <p:cNvSpPr txBox="1">
            <a:spLocks/>
          </p:cNvSpPr>
          <p:nvPr/>
        </p:nvSpPr>
        <p:spPr>
          <a:xfrm>
            <a:off x="4447233" y="3508835"/>
            <a:ext cx="640941" cy="4603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+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25D55992-3EA1-72CD-B6C0-463F992D1C5F}"/>
              </a:ext>
            </a:extLst>
          </p:cNvPr>
          <p:cNvSpPr txBox="1">
            <a:spLocks/>
          </p:cNvSpPr>
          <p:nvPr/>
        </p:nvSpPr>
        <p:spPr>
          <a:xfrm>
            <a:off x="7327523" y="3517903"/>
            <a:ext cx="640941" cy="4603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+</a:t>
            </a:r>
          </a:p>
        </p:txBody>
      </p:sp>
      <p:pic>
        <p:nvPicPr>
          <p:cNvPr id="15" name="Рисунок 14" descr="Изображение выглядит как текст, млекопитающее, Мелкие и средние кошки, Кошачьи&#10;&#10;Автоматически созданное описание">
            <a:extLst>
              <a:ext uri="{FF2B5EF4-FFF2-40B4-BE49-F238E27FC236}">
                <a16:creationId xmlns:a16="http://schemas.microsoft.com/office/drawing/2014/main" id="{DD19DA9E-522E-292C-9E5F-8D0AE6B35E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258" y="1980746"/>
            <a:ext cx="3995058" cy="3995058"/>
          </a:xfrm>
          <a:prstGeom prst="rect">
            <a:avLst/>
          </a:prstGeom>
        </p:spPr>
      </p:pic>
      <p:pic>
        <p:nvPicPr>
          <p:cNvPr id="17" name="Рисунок 16" descr="Изображение выглядит как текст, Электронный компонент, Компонент схемы, Пассивный компонент цепи&#10;&#10;Автоматически созданное описание">
            <a:extLst>
              <a:ext uri="{FF2B5EF4-FFF2-40B4-BE49-F238E27FC236}">
                <a16:creationId xmlns:a16="http://schemas.microsoft.com/office/drawing/2014/main" id="{C59E94CC-1B1B-1FA6-ED4B-14399BF8C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174" y="2730741"/>
            <a:ext cx="2179509" cy="2217612"/>
          </a:xfrm>
          <a:prstGeom prst="rect">
            <a:avLst/>
          </a:prstGeom>
        </p:spPr>
      </p:pic>
      <p:pic>
        <p:nvPicPr>
          <p:cNvPr id="19" name="Рисунок 18" descr="Изображение выглядит как снимок экрана, текст, искусство, статуя&#10;&#10;Автоматически созданное описание">
            <a:extLst>
              <a:ext uri="{FF2B5EF4-FFF2-40B4-BE49-F238E27FC236}">
                <a16:creationId xmlns:a16="http://schemas.microsoft.com/office/drawing/2014/main" id="{72C21740-3708-3FBE-F984-252021CA2C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459" y="2434855"/>
            <a:ext cx="3887773" cy="2809384"/>
          </a:xfrm>
          <a:prstGeom prst="rect">
            <a:avLst/>
          </a:prstGeom>
        </p:spPr>
      </p:pic>
      <p:sp>
        <p:nvSpPr>
          <p:cNvPr id="20" name="Объект 2">
            <a:extLst>
              <a:ext uri="{FF2B5EF4-FFF2-40B4-BE49-F238E27FC236}">
                <a16:creationId xmlns:a16="http://schemas.microsoft.com/office/drawing/2014/main" id="{9392716E-02D7-8FAB-5DB9-BC555D30A25C}"/>
              </a:ext>
            </a:extLst>
          </p:cNvPr>
          <p:cNvSpPr txBox="1">
            <a:spLocks/>
          </p:cNvSpPr>
          <p:nvPr/>
        </p:nvSpPr>
        <p:spPr>
          <a:xfrm>
            <a:off x="7895686" y="5357694"/>
            <a:ext cx="3887773" cy="6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ea typeface="CMU Serif" panose="02000603000000000000" pitchFamily="2" charset="0"/>
                <a:cs typeface="CMU Serif" panose="02000603000000000000" pitchFamily="2" charset="0"/>
              </a:rPr>
              <a:t>J. </a:t>
            </a:r>
            <a:r>
              <a:rPr lang="en-US" sz="1600" dirty="0" err="1">
                <a:ea typeface="CMU Serif" panose="02000603000000000000" pitchFamily="2" charset="0"/>
                <a:cs typeface="CMU Serif" panose="02000603000000000000" pitchFamily="2" charset="0"/>
              </a:rPr>
              <a:t>Geng</a:t>
            </a:r>
            <a:r>
              <a:rPr lang="en-US" sz="1600" dirty="0">
                <a:ea typeface="CMU Serif" panose="02000603000000000000" pitchFamily="2" charset="0"/>
                <a:cs typeface="CMU Serif" panose="02000603000000000000" pitchFamily="2" charset="0"/>
              </a:rPr>
              <a:t>, </a:t>
            </a:r>
            <a:r>
              <a:rPr lang="en-US" sz="1600" i="1" dirty="0">
                <a:ea typeface="CMU Serif" panose="02000603000000000000" pitchFamily="2" charset="0"/>
                <a:cs typeface="CMU Serif" panose="02000603000000000000" pitchFamily="2" charset="0"/>
              </a:rPr>
              <a:t>et al.</a:t>
            </a:r>
            <a:r>
              <a:rPr lang="en-US" sz="1600" dirty="0">
                <a:ea typeface="CMU Serif" panose="02000603000000000000" pitchFamily="2" charset="0"/>
                <a:cs typeface="CMU Serif" panose="02000603000000000000" pitchFamily="2" charset="0"/>
              </a:rPr>
              <a:t>, </a:t>
            </a:r>
            <a:r>
              <a:rPr lang="en-US" sz="1600" dirty="0" err="1">
                <a:ea typeface="CMU Serif" panose="02000603000000000000" pitchFamily="2" charset="0"/>
                <a:cs typeface="CMU Serif" panose="02000603000000000000" pitchFamily="2" charset="0"/>
              </a:rPr>
              <a:t>DensePose</a:t>
            </a:r>
            <a:r>
              <a:rPr lang="en-US" sz="1600" dirty="0">
                <a:ea typeface="CMU Serif" panose="02000603000000000000" pitchFamily="2" charset="0"/>
                <a:cs typeface="CMU Serif" panose="02000603000000000000" pitchFamily="2" charset="0"/>
              </a:rPr>
              <a:t> From </a:t>
            </a:r>
            <a:r>
              <a:rPr lang="en-US" sz="1600" dirty="0" err="1">
                <a:ea typeface="CMU Serif" panose="02000603000000000000" pitchFamily="2" charset="0"/>
                <a:cs typeface="CMU Serif" panose="02000603000000000000" pitchFamily="2" charset="0"/>
              </a:rPr>
              <a:t>WiFi</a:t>
            </a:r>
            <a:r>
              <a:rPr lang="en-US" sz="1600" dirty="0">
                <a:ea typeface="CMU Serif" panose="02000603000000000000" pitchFamily="2" charset="0"/>
                <a:cs typeface="CMU Serif" panose="02000603000000000000" pitchFamily="2" charset="0"/>
              </a:rPr>
              <a:t> (2023)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solidFill>
                  <a:srgbClr val="0000FF"/>
                </a:solidFill>
                <a:ea typeface="CMU Serif" panose="02000603000000000000" pitchFamily="2" charset="0"/>
                <a:cs typeface="CMU Serif" panose="02000603000000000000" pitchFamily="2" charset="0"/>
              </a:rPr>
              <a:t>https://arxiv.org/abs/2301.00250</a:t>
            </a:r>
            <a:endParaRPr lang="ru-RU" sz="1600" dirty="0">
              <a:solidFill>
                <a:srgbClr val="0000FF"/>
              </a:solidFill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3846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9DE9C8B-CE93-43A4-B208-5D0C8972C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698293"/>
            <a:ext cx="9144000" cy="863945"/>
          </a:xfrm>
          <a:solidFill>
            <a:schemeClr val="accent2">
              <a:lumMod val="60000"/>
              <a:lumOff val="40000"/>
            </a:schemeClr>
          </a:solidFill>
          <a:effectLst/>
        </p:spPr>
        <p:txBody>
          <a:bodyPr>
            <a:normAutofit/>
          </a:bodyPr>
          <a:lstStyle/>
          <a:p>
            <a:r>
              <a:rPr lang="ru-RU" sz="5000" dirty="0">
                <a:latin typeface="+mn-lt"/>
                <a:ea typeface="CMU Serif" panose="02000603000000000000" pitchFamily="50" charset="0"/>
                <a:cs typeface="CMU Serif" panose="02000603000000000000" pitchFamily="50" charset="0"/>
              </a:rPr>
              <a:t>Контакты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8ECD1099-F0FB-454C-83DB-41613F7F3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58816" y="4472198"/>
            <a:ext cx="5274365" cy="1359970"/>
          </a:xfrm>
        </p:spPr>
        <p:txBody>
          <a:bodyPr>
            <a:normAutofit/>
          </a:bodyPr>
          <a:lstStyle/>
          <a:p>
            <a:r>
              <a:rPr lang="ru-RU" dirty="0">
                <a:ea typeface="CMU Serif" panose="02000603000000000000" pitchFamily="50" charset="0"/>
                <a:cs typeface="CMU Serif" panose="02000603000000000000" pitchFamily="50" charset="0"/>
              </a:rPr>
              <a:t>Никита Олехно</a:t>
            </a:r>
            <a:endParaRPr lang="en-US" dirty="0">
              <a:ea typeface="CMU Serif" panose="02000603000000000000" pitchFamily="50" charset="0"/>
              <a:cs typeface="CMU Serif" panose="02000603000000000000" pitchFamily="50" charset="0"/>
            </a:endParaRPr>
          </a:p>
          <a:p>
            <a:r>
              <a:rPr lang="en-US" dirty="0">
                <a:ea typeface="CMU Serif" panose="02000603000000000000" pitchFamily="50" charset="0"/>
                <a:cs typeface="CMU Serif" panose="02000603000000000000" pitchFamily="50" charset="0"/>
              </a:rPr>
              <a:t>nikita.olekhno@metalab.ifmo.ru</a:t>
            </a:r>
          </a:p>
        </p:txBody>
      </p:sp>
      <p:pic>
        <p:nvPicPr>
          <p:cNvPr id="2" name="Рисунок 1" descr="Изображение выглядит как человек, здание, внешний, улыбается&#10;&#10;Автоматически созданное описание">
            <a:extLst>
              <a:ext uri="{FF2B5EF4-FFF2-40B4-BE49-F238E27FC236}">
                <a16:creationId xmlns:a16="http://schemas.microsoft.com/office/drawing/2014/main" id="{630727D2-64A6-4263-A72C-CAAA8482E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915" y="2024134"/>
            <a:ext cx="1986168" cy="198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7375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3799</TotalTime>
  <Words>102</Words>
  <Application>Microsoft Office PowerPoint</Application>
  <PresentationFormat>Широкоэкранный</PresentationFormat>
  <Paragraphs>26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CMU Serif</vt:lpstr>
      <vt:lpstr>Тема Office</vt:lpstr>
      <vt:lpstr>TomoBot</vt:lpstr>
      <vt:lpstr>Исследование завалов и опасных сред</vt:lpstr>
      <vt:lpstr>Исследование завалов и опасных сред</vt:lpstr>
      <vt:lpstr>Контакты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Nik</dc:creator>
  <cp:lastModifiedBy>Олехно Никита Андреевич</cp:lastModifiedBy>
  <cp:revision>360</cp:revision>
  <dcterms:created xsi:type="dcterms:W3CDTF">2020-06-19T15:47:19Z</dcterms:created>
  <dcterms:modified xsi:type="dcterms:W3CDTF">2025-09-29T17:42:37Z</dcterms:modified>
</cp:coreProperties>
</file>